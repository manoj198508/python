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69680" y="73152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1B4A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}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9052560" y="24688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B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FUNDAMENTALS · MODULE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219456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Practical Python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77240" y="297180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7EC8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Problem Solving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9776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clean, idiomatic code and solve problems methodically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2960" y="461772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· comprehensions · generators · errors · a problem-solving framework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2062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MINDSET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34440" y="65836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F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Thinking in Python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prizes readability. “There should be one — and preferably only one — obvious way to do it.” Idiomatic (“Pythonic”) code is shorter, clearer, and often faster.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5349240" cy="3017520"/>
          </a:xfrm>
          <a:prstGeom prst="rect">
            <a:avLst/>
          </a:prstGeom>
          <a:solidFill>
            <a:srgbClr val="0F2540"/>
          </a:solidFill>
          <a:ln w="12700">
            <a:solidFill>
              <a:srgbClr val="1B4A73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331720"/>
            <a:ext cx="82296" cy="3017520"/>
          </a:xfrm>
          <a:prstGeom prst="rect">
            <a:avLst/>
          </a:prstGeom>
          <a:solidFill>
            <a:srgbClr val="F4B400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2404872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Verbose, C-style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59536" y="2715768"/>
            <a:ext cx="4965192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7C9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Not Pythonic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squares = []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range(10):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squares.append(i*i)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0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i &lt; len(items):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print(items[i]); i += 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2331720"/>
            <a:ext cx="5349240" cy="3017520"/>
          </a:xfrm>
          <a:prstGeom prst="rect">
            <a:avLst/>
          </a:prstGeom>
          <a:solidFill>
            <a:srgbClr val="0F2540"/>
          </a:solidFill>
          <a:ln w="12700">
            <a:solidFill>
              <a:srgbClr val="1B4A73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2331720"/>
            <a:ext cx="82296" cy="3017520"/>
          </a:xfrm>
          <a:prstGeom prst="rect">
            <a:avLst/>
          </a:prstGeom>
          <a:solidFill>
            <a:srgbClr val="F4B400"/>
          </a:solidFill>
          <a:ln/>
        </p:spPr>
      </p:sp>
      <p:sp>
        <p:nvSpPr>
          <p:cNvPr id="13" name="Text 11"/>
          <p:cNvSpPr/>
          <p:nvPr/>
        </p:nvSpPr>
        <p:spPr>
          <a:xfrm>
            <a:off x="6373368" y="2404872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Clear, idiomatic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91656" y="2715768"/>
            <a:ext cx="4965192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7C9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Pythonic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squares = [i*i for i in range(10)]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item in items: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print(item)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idx, item in enumerate(items):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print(idx, item)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5532120"/>
            <a:ext cx="10881360" cy="777240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5532120"/>
            <a:ext cx="109728" cy="777240"/>
          </a:xfrm>
          <a:prstGeom prst="rect">
            <a:avLst/>
          </a:prstGeom>
          <a:solidFill>
            <a:srgbClr val="F4B400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55321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FFE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  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language do the work — iterate directly, use comprehensions, unpack tuples, and name things well. Clear code is correct code more often.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2062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34440" y="65836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F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Pick the right data structure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2176272" cy="50292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828800"/>
            <a:ext cx="2048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816352" y="1828800"/>
            <a:ext cx="1414577" cy="50292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9" name="Text 7"/>
          <p:cNvSpPr/>
          <p:nvPr/>
        </p:nvSpPr>
        <p:spPr>
          <a:xfrm>
            <a:off x="2889504" y="1828800"/>
            <a:ext cx="128656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30929" y="1828800"/>
            <a:ext cx="1414577" cy="50292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11" name="Text 9"/>
          <p:cNvSpPr/>
          <p:nvPr/>
        </p:nvSpPr>
        <p:spPr>
          <a:xfrm>
            <a:off x="4304081" y="1828800"/>
            <a:ext cx="128656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Mutable?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45506" y="1828800"/>
            <a:ext cx="4243730" cy="50292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13" name="Text 11"/>
          <p:cNvSpPr/>
          <p:nvPr/>
        </p:nvSpPr>
        <p:spPr>
          <a:xfrm>
            <a:off x="5718658" y="1828800"/>
            <a:ext cx="411571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when…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889236" y="1828800"/>
            <a:ext cx="1632204" cy="50292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15" name="Text 13"/>
          <p:cNvSpPr/>
          <p:nvPr/>
        </p:nvSpPr>
        <p:spPr>
          <a:xfrm>
            <a:off x="9962388" y="1828800"/>
            <a:ext cx="15041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2331720"/>
            <a:ext cx="2176272" cy="65836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2331720"/>
            <a:ext cx="20482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 [ ]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816352" y="2331720"/>
            <a:ext cx="1414577" cy="65836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89504" y="2331720"/>
            <a:ext cx="128656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230929" y="2331720"/>
            <a:ext cx="1414577" cy="65836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04081" y="2331720"/>
            <a:ext cx="128656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645506" y="2331720"/>
            <a:ext cx="4243730" cy="65836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18658" y="2331720"/>
            <a:ext cx="411571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sequence you change often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889236" y="2331720"/>
            <a:ext cx="1632204" cy="65836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962388" y="2331720"/>
            <a:ext cx="15041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2990088"/>
            <a:ext cx="2176272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" y="2990088"/>
            <a:ext cx="20482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 ( 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816352" y="2990088"/>
            <a:ext cx="1414577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89504" y="2990088"/>
            <a:ext cx="128656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230929" y="2990088"/>
            <a:ext cx="1414577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04081" y="2990088"/>
            <a:ext cx="128656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645506" y="2990088"/>
            <a:ext cx="424373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18658" y="2990088"/>
            <a:ext cx="411571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record / return many values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9889236" y="2990088"/>
            <a:ext cx="1632204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962388" y="2990088"/>
            <a:ext cx="15041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40080" y="3648456"/>
            <a:ext cx="2176272" cy="65836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3232" y="3648456"/>
            <a:ext cx="20482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 { }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2816352" y="3648456"/>
            <a:ext cx="1414577" cy="65836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89504" y="3648456"/>
            <a:ext cx="128656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230929" y="3648456"/>
            <a:ext cx="1414577" cy="65836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04081" y="3648456"/>
            <a:ext cx="128656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5645506" y="3648456"/>
            <a:ext cx="4243730" cy="65836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718658" y="3648456"/>
            <a:ext cx="411571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items, fast membership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9889236" y="3648456"/>
            <a:ext cx="1632204" cy="65836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962388" y="3648456"/>
            <a:ext cx="15041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40080" y="4306824"/>
            <a:ext cx="2176272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13232" y="4306824"/>
            <a:ext cx="20482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 {k:v}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2816352" y="4306824"/>
            <a:ext cx="1414577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889504" y="4306824"/>
            <a:ext cx="128656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4230929" y="4306824"/>
            <a:ext cx="1414577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04081" y="4306824"/>
            <a:ext cx="128656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5645506" y="4306824"/>
            <a:ext cx="424373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718658" y="4306824"/>
            <a:ext cx="411571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→ value lookups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9889236" y="4306824"/>
            <a:ext cx="1632204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962388" y="4306824"/>
            <a:ext cx="15041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640080" y="4983480"/>
            <a:ext cx="10881360" cy="777240"/>
          </a:xfrm>
          <a:prstGeom prst="rect">
            <a:avLst/>
          </a:prstGeom>
          <a:solidFill>
            <a:srgbClr val="FEF6E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pic>
        <p:nvPicPr>
          <p:cNvPr id="5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5120640"/>
            <a:ext cx="384048" cy="384048"/>
          </a:xfrm>
          <a:prstGeom prst="rect">
            <a:avLst/>
          </a:prstGeom>
        </p:spPr>
      </p:pic>
      <p:sp>
        <p:nvSpPr>
          <p:cNvPr id="58" name="Text 55"/>
          <p:cNvSpPr/>
          <p:nvPr/>
        </p:nvSpPr>
        <p:spPr>
          <a:xfrm>
            <a:off x="1280160" y="498348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matters: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“x in my_list” scans every element (slow); “x in my_set” is near-instant. Choosing the structure is half the optimization.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2062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IDIOMS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34440" y="65836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F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Comprehensions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list/dict/set in one readable expression — often replacing a 3-line loop.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2103120"/>
            <a:ext cx="6126480" cy="3291840"/>
          </a:xfrm>
          <a:prstGeom prst="rect">
            <a:avLst/>
          </a:prstGeom>
          <a:solidFill>
            <a:srgbClr val="0F2540"/>
          </a:solidFill>
          <a:ln w="12700">
            <a:solidFill>
              <a:srgbClr val="1B4A73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103120"/>
            <a:ext cx="82296" cy="3291840"/>
          </a:xfrm>
          <a:prstGeom prst="rect">
            <a:avLst/>
          </a:prstGeom>
          <a:solidFill>
            <a:srgbClr val="F4B400"/>
          </a:solidFill>
          <a:ln/>
        </p:spPr>
      </p:sp>
      <p:sp>
        <p:nvSpPr>
          <p:cNvPr id="9" name="Text 7"/>
          <p:cNvSpPr/>
          <p:nvPr/>
        </p:nvSpPr>
        <p:spPr>
          <a:xfrm>
            <a:off x="859536" y="2212848"/>
            <a:ext cx="5742432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7C9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list comprehension (with filter)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evens = [n for n in range(20) if n % 2 == 0]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7C9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dict comprehension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 = {n: n*n for n in range(5)}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7C9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set comprehension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vowels = {c for c in 'mississippi' if c in 'aeiou'}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7C9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nested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pairs = [(i, j) for i in range(2) for j in range(2)]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995160" y="2103120"/>
            <a:ext cx="4526280" cy="32918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223760" y="226771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A9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Pattern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23760" y="26974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expr  for x in iterable  if cond ]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223760" y="3291840"/>
            <a:ext cx="4114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25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left-to-right: “transform each x that passes the filter.”</a:t>
            </a:r>
            <a:endParaRPr lang="en-US" sz="12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25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them simple — if it needs 3 conditions, use a loop.</a:t>
            </a:r>
            <a:endParaRPr lang="en-US" sz="12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25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[ ] for ( ) to get a lazy generator.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2062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34440" y="65836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F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Flexible function signatures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6217920" cy="3931920"/>
          </a:xfrm>
          <a:prstGeom prst="rect">
            <a:avLst/>
          </a:prstGeom>
          <a:solidFill>
            <a:srgbClr val="0F2540"/>
          </a:solidFill>
          <a:ln w="12700">
            <a:solidFill>
              <a:srgbClr val="1B4A73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828800"/>
            <a:ext cx="82296" cy="3931920"/>
          </a:xfrm>
          <a:prstGeom prst="rect">
            <a:avLst/>
          </a:prstGeom>
          <a:solidFill>
            <a:srgbClr val="F4B400"/>
          </a:solidFill>
          <a:ln/>
        </p:spPr>
      </p:sp>
      <p:sp>
        <p:nvSpPr>
          <p:cNvPr id="8" name="Text 6"/>
          <p:cNvSpPr/>
          <p:nvPr/>
        </p:nvSpPr>
        <p:spPr>
          <a:xfrm>
            <a:off x="859536" y="1938528"/>
            <a:ext cx="5833872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greet(name, msg='Hi'):     # default arg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f'{msg}, {name}'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total(*args):              # any # of args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sum(args)           # args is a tuple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config(**kwargs):          # named args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kwargs              # kwargs is a dict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total(1, 2, 3)                 # 6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config(debug=True, level=5)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= lambda x: x * 2       # tiny anon fn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086600" y="1828800"/>
            <a:ext cx="4434840" cy="3931920"/>
          </a:xfrm>
          <a:prstGeom prst="rect">
            <a:avLst/>
          </a:prstGeom>
          <a:solidFill>
            <a:srgbClr val="E3EEF6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0" y="199339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A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Building blocks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0" y="2468880"/>
            <a:ext cx="4023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 args</a:t>
            </a:r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optional parameters.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*args</a:t>
            </a:r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collect extra positional args.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**kwargs</a:t>
            </a:r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collect named args.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lambda</a:t>
            </a:r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one-line function for map/sort keys.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7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Higher-order: map(), filter(), sorted(key=…).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2062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34440" y="65836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F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Iterators &amp; generators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Generators produce values lazily, one at a time — huge memory savings for large or infinite streams.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103120"/>
            <a:ext cx="6126480" cy="3291840"/>
          </a:xfrm>
          <a:prstGeom prst="rect">
            <a:avLst/>
          </a:prstGeom>
          <a:solidFill>
            <a:srgbClr val="0F2540"/>
          </a:solidFill>
          <a:ln w="12700">
            <a:solidFill>
              <a:srgbClr val="1B4A73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103120"/>
            <a:ext cx="82296" cy="3291840"/>
          </a:xfrm>
          <a:prstGeom prst="rect">
            <a:avLst/>
          </a:prstGeom>
          <a:solidFill>
            <a:srgbClr val="F4B400"/>
          </a:solidFill>
          <a:ln/>
        </p:spPr>
      </p:sp>
      <p:sp>
        <p:nvSpPr>
          <p:cNvPr id="9" name="Text 7"/>
          <p:cNvSpPr/>
          <p:nvPr/>
        </p:nvSpPr>
        <p:spPr>
          <a:xfrm>
            <a:off x="859536" y="2212848"/>
            <a:ext cx="5742432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first_n_squares(n):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range(n):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yield i * i        # pauses &amp; resumes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v in first_n_squares(5):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print(v)               # 0 1 4 9 16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7C9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generator expression (no list built)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= sum(i*i for i in range(1_000_000))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995160" y="2103120"/>
            <a:ext cx="4526280" cy="3291840"/>
          </a:xfrm>
          <a:prstGeom prst="rect">
            <a:avLst/>
          </a:prstGeom>
          <a:solidFill>
            <a:srgbClr val="E0F2F1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2286000"/>
            <a:ext cx="411480" cy="4114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726680" y="23042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lazy is good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223760" y="2788920"/>
            <a:ext cx="4114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yield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produces a value and pauses — state is remembered.</a:t>
            </a:r>
            <a:endParaRPr lang="en-US" sz="12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item is in memory at a time.</a:t>
            </a:r>
            <a:endParaRPr lang="en-US" sz="12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model infinite streams (sensor data, log lines).</a:t>
            </a:r>
            <a:endParaRPr lang="en-US" sz="12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pipelines that process huge files.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2062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34440" y="65836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F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Error handling done right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6217920" cy="3931920"/>
          </a:xfrm>
          <a:prstGeom prst="rect">
            <a:avLst/>
          </a:prstGeom>
          <a:solidFill>
            <a:srgbClr val="0F2540"/>
          </a:solidFill>
          <a:ln w="12700">
            <a:solidFill>
              <a:srgbClr val="1B4A73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828800"/>
            <a:ext cx="82296" cy="3931920"/>
          </a:xfrm>
          <a:prstGeom prst="rect">
            <a:avLst/>
          </a:prstGeom>
          <a:solidFill>
            <a:srgbClr val="F4B400"/>
          </a:solidFill>
          <a:ln/>
        </p:spPr>
      </p:sp>
      <p:sp>
        <p:nvSpPr>
          <p:cNvPr id="8" name="Text 6"/>
          <p:cNvSpPr/>
          <p:nvPr/>
        </p:nvSpPr>
        <p:spPr>
          <a:xfrm>
            <a:off x="859536" y="1938528"/>
            <a:ext cx="5833872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try: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value = int(user_input)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100 / value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ValueError: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print('Not a number')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ZeroDivisionError: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print('Cannot divide by zero')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print('OK:', result)   # ran, no error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finally: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print('Always runs (cleanup)')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raise ValueError('custom message')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086600" y="1828800"/>
            <a:ext cx="4434840" cy="3931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0" y="199339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6A9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EAFP, the Python way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0" y="2423160"/>
            <a:ext cx="4023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“Easier to Ask Forgiveness than Permission” — try the action, handle the failure.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DB44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catch specific errors, not bare except.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F9D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runs only if no error.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6D4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finally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always runs (close files, release locks).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B886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raise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your own errors with clear messages.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2062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BATTERIES INCLUDED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34440" y="65836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F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standard library toolbox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5349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286000"/>
            <a:ext cx="777240" cy="777240"/>
          </a:xfrm>
          <a:prstGeom prst="ellipse">
            <a:avLst/>
          </a:prstGeom>
          <a:solidFill>
            <a:srgbClr val="F1F5F9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2487168"/>
            <a:ext cx="374904" cy="37490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28800" y="212140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collections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828800" y="260604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Counter, defaultdict, deque, namedtuple — ready-made structures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1828800"/>
            <a:ext cx="5349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46520" y="2286000"/>
            <a:ext cx="777240" cy="777240"/>
          </a:xfrm>
          <a:prstGeom prst="ellipse">
            <a:avLst/>
          </a:prstGeom>
          <a:solidFill>
            <a:srgbClr val="F1F5F9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688" y="2487168"/>
            <a:ext cx="374904" cy="37490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60920" y="212140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itertools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7360920" y="260604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chain, groupby, combinations, product — powerful iteration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40080" y="3703320"/>
            <a:ext cx="5349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14400" y="4160520"/>
            <a:ext cx="777240" cy="777240"/>
          </a:xfrm>
          <a:prstGeom prst="ellipse">
            <a:avLst/>
          </a:prstGeom>
          <a:solidFill>
            <a:srgbClr val="F1F5F9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4361688"/>
            <a:ext cx="374904" cy="37490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828800" y="399592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4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functools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1828800" y="448056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reduce, lru_cache (memoize), partial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6172200" y="3703320"/>
            <a:ext cx="5349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446520" y="4160520"/>
            <a:ext cx="777240" cy="777240"/>
          </a:xfrm>
          <a:prstGeom prst="ellipse">
            <a:avLst/>
          </a:prstGeom>
          <a:solidFill>
            <a:srgbClr val="F1F5F9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7688" y="4361688"/>
            <a:ext cx="374904" cy="37490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360920" y="399592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6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built-ins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7360920" y="448056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enumerate, zip, sorted, any/all, sum, min/max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2062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34440" y="65836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F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problem-solving framework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10881360" cy="6766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1947672"/>
            <a:ext cx="438912" cy="438912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19476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1828800"/>
            <a:ext cx="2194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A9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Understand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11880" y="1828800"/>
            <a:ext cx="7680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restate the problem; note inputs, outputs, constraints, edge cases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615184"/>
            <a:ext cx="1088136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04672" y="2734056"/>
            <a:ext cx="438912" cy="438912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" y="27340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2615184"/>
            <a:ext cx="2194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11880" y="2615184"/>
            <a:ext cx="7680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into sub-problems; pick data structures; sketch the steps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401568"/>
            <a:ext cx="10881360" cy="6766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4672" y="3520440"/>
            <a:ext cx="438912" cy="438912"/>
          </a:xfrm>
          <a:prstGeom prst="ellipse">
            <a:avLst/>
          </a:prstGeom>
          <a:solidFill>
            <a:srgbClr val="6D4AFF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35204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3401568"/>
            <a:ext cx="2194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4A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611880" y="3401568"/>
            <a:ext cx="7680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the simplest version that works — clearly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4187952"/>
            <a:ext cx="1088136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04672" y="4306824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3" name="Text 21"/>
          <p:cNvSpPr/>
          <p:nvPr/>
        </p:nvSpPr>
        <p:spPr>
          <a:xfrm>
            <a:off x="804672" y="43068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71600" y="4187952"/>
            <a:ext cx="2194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6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611880" y="4187952"/>
            <a:ext cx="7680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normal, boundary &amp; invalid inputs; fix bugs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4974336"/>
            <a:ext cx="10881360" cy="6766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04672" y="5093208"/>
            <a:ext cx="438912" cy="438912"/>
          </a:xfrm>
          <a:prstGeom prst="ellipse">
            <a:avLst/>
          </a:prstGeom>
          <a:solidFill>
            <a:srgbClr val="0F9D58"/>
          </a:solidFill>
          <a:ln/>
        </p:spPr>
      </p:sp>
      <p:sp>
        <p:nvSpPr>
          <p:cNvPr id="28" name="Text 26"/>
          <p:cNvSpPr/>
          <p:nvPr/>
        </p:nvSpPr>
        <p:spPr>
          <a:xfrm>
            <a:off x="804672" y="50932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371600" y="4974336"/>
            <a:ext cx="2194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9D5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Refine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611880" y="4974336"/>
            <a:ext cx="7680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readability, then complexity if needed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2062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34440" y="65836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F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problem to solution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B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count how many times each word appears in a sentence (case-insensitive).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057400"/>
            <a:ext cx="6583680" cy="3108960"/>
          </a:xfrm>
          <a:prstGeom prst="rect">
            <a:avLst/>
          </a:prstGeom>
          <a:solidFill>
            <a:srgbClr val="0F2540"/>
          </a:solidFill>
          <a:ln w="12700">
            <a:solidFill>
              <a:srgbClr val="1B4A73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057400"/>
            <a:ext cx="82296" cy="3108960"/>
          </a:xfrm>
          <a:prstGeom prst="rect">
            <a:avLst/>
          </a:prstGeom>
          <a:solidFill>
            <a:srgbClr val="F4B400"/>
          </a:solidFill>
          <a:ln/>
        </p:spPr>
      </p:sp>
      <p:sp>
        <p:nvSpPr>
          <p:cNvPr id="9" name="Text 7"/>
          <p:cNvSpPr/>
          <p:nvPr/>
        </p:nvSpPr>
        <p:spPr>
          <a:xfrm>
            <a:off x="859536" y="2167128"/>
            <a:ext cx="6199632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collections import Counter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= 'the cat sat on the mat the cat'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words = text.lower().split()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freq = Counter(words)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word, n in freq.most_common(3):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print(word, n)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406640" y="2057400"/>
            <a:ext cx="4114800" cy="1554480"/>
          </a:xfrm>
          <a:prstGeom prst="rect">
            <a:avLst/>
          </a:prstGeom>
          <a:solidFill>
            <a:srgbClr val="E6F4E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71232" y="2148840"/>
            <a:ext cx="38221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0F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3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0F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2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0F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sat 1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406640" y="3749040"/>
            <a:ext cx="4114800" cy="1417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589520" y="38587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D6A9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we got there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589520" y="4187952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→ normalise case → split into words → pick Counter (the right tool) → report top results.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5349240"/>
            <a:ext cx="10881360" cy="777240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5349240"/>
            <a:ext cx="109728" cy="777240"/>
          </a:xfrm>
          <a:prstGeom prst="rect">
            <a:avLst/>
          </a:prstGeom>
          <a:solidFill>
            <a:srgbClr val="F4B400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53492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FFE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  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the work is choosing the right structure (Counter) and decomposing the steps — the code then almost writes itself.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2062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34440" y="65836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F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Debugging &amp; testing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6126480" cy="3383280"/>
          </a:xfrm>
          <a:prstGeom prst="rect">
            <a:avLst/>
          </a:prstGeom>
          <a:solidFill>
            <a:srgbClr val="0F2540"/>
          </a:solidFill>
          <a:ln w="12700">
            <a:solidFill>
              <a:srgbClr val="1B4A73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828800"/>
            <a:ext cx="82296" cy="3383280"/>
          </a:xfrm>
          <a:prstGeom prst="rect">
            <a:avLst/>
          </a:prstGeom>
          <a:solidFill>
            <a:srgbClr val="F4B400"/>
          </a:solidFill>
          <a:ln/>
        </p:spPr>
      </p:sp>
      <p:sp>
        <p:nvSpPr>
          <p:cNvPr id="8" name="Text 6"/>
          <p:cNvSpPr/>
          <p:nvPr/>
        </p:nvSpPr>
        <p:spPr>
          <a:xfrm>
            <a:off x="859536" y="1938528"/>
            <a:ext cx="5742432" cy="3182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average(nums):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len(nums) &gt; 0, 'need at least one number'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sum(nums) / len(nums)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7C9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quick checks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 average([2, 4]) == 3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logging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logging.basicConfig(level=logging.INFO)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logging.info('processing %d items', len(nums))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995160" y="1828800"/>
            <a:ext cx="4526280" cy="33832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2011680"/>
            <a:ext cx="411480" cy="411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726680" y="20299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B4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Find bugs faster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223760" y="2487168"/>
            <a:ext cx="4114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25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traceback bottom-up — it names the file, line &amp; error.</a:t>
            </a:r>
            <a:endParaRPr lang="en-US" sz="12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25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 checks assumptions early.</a:t>
            </a:r>
            <a:endParaRPr lang="en-US" sz="12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25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logging over scattered print().</a:t>
            </a:r>
            <a:endParaRPr lang="en-US" sz="12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25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small tests (pytest) so fixes stay fixed.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2062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REAL WORLD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34440" y="65836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F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these skills pay off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5349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286000"/>
            <a:ext cx="777240" cy="777240"/>
          </a:xfrm>
          <a:prstGeom prst="ellipse">
            <a:avLst/>
          </a:prstGeom>
          <a:solidFill>
            <a:srgbClr val="F1F5F9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2487168"/>
            <a:ext cx="374904" cy="37490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28800" y="21031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6A9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wrangling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828800" y="2578608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group &amp; summarise messy datasets with dict/Counter/comprehensions.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72200" y="1828800"/>
            <a:ext cx="5349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46520" y="2286000"/>
            <a:ext cx="777240" cy="777240"/>
          </a:xfrm>
          <a:prstGeom prst="ellipse">
            <a:avLst/>
          </a:prstGeom>
          <a:solidFill>
            <a:srgbClr val="F1F5F9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688" y="2487168"/>
            <a:ext cx="374904" cy="37490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60920" y="21031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Pipelines &amp; ETL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7360920" y="2578608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generators stream gigabytes of logs without loading them into RAM.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3703320"/>
            <a:ext cx="5349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14400" y="4160520"/>
            <a:ext cx="777240" cy="777240"/>
          </a:xfrm>
          <a:prstGeom prst="ellipse">
            <a:avLst/>
          </a:prstGeom>
          <a:solidFill>
            <a:srgbClr val="F1F5F9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4361688"/>
            <a:ext cx="374904" cy="37490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828800" y="39776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D4A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Automation scripts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1828800" y="4453128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glue tasks together: rename files, call APIs, schedule jobs.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6172200" y="3703320"/>
            <a:ext cx="5349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446520" y="4160520"/>
            <a:ext cx="777240" cy="777240"/>
          </a:xfrm>
          <a:prstGeom prst="ellipse">
            <a:avLst/>
          </a:prstGeom>
          <a:solidFill>
            <a:srgbClr val="F1F5F9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7688" y="4361688"/>
            <a:ext cx="374904" cy="37490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360920" y="39776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886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Interviews &amp; contests</a:t>
            </a:r>
            <a:endParaRPr lang="en-US" sz="1700" dirty="0"/>
          </a:p>
        </p:txBody>
      </p:sp>
      <p:sp>
        <p:nvSpPr>
          <p:cNvPr id="25" name="Text 19"/>
          <p:cNvSpPr/>
          <p:nvPr/>
        </p:nvSpPr>
        <p:spPr>
          <a:xfrm>
            <a:off x="7360920" y="4453128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problem-solving framework + right data structure = correct, fast answers.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?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234440" y="42062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34440" y="65836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F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Practice questions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15361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these to check your understanding — tags show the skill each one builds.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1088136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2130552"/>
            <a:ext cx="420624" cy="420624"/>
          </a:xfrm>
          <a:prstGeom prst="ellipse">
            <a:avLst/>
          </a:prstGeom>
          <a:solidFill>
            <a:srgbClr val="F4B40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1305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25880" y="201168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FizzBuzz 1–20 using a single list comprehension or clean loop.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6D4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[apply]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770632"/>
            <a:ext cx="10881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2889504"/>
            <a:ext cx="420624" cy="420624"/>
          </a:xfrm>
          <a:prstGeom prst="ellipse">
            <a:avLst/>
          </a:prstGeom>
          <a:solidFill>
            <a:srgbClr val="F4B400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8895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25880" y="27706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list of numbers, return the two that sum to a target (use a dict for O(n)).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6D4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[logical]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529584"/>
            <a:ext cx="1088136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3648456"/>
            <a:ext cx="420624" cy="420624"/>
          </a:xfrm>
          <a:prstGeom prst="ellipse">
            <a:avLst/>
          </a:prstGeom>
          <a:solidFill>
            <a:srgbClr val="F4B400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648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25880" y="3529584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generator that yields the Fibonacci sequence lazily.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6D4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[generators]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288536"/>
            <a:ext cx="10881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407408"/>
            <a:ext cx="420624" cy="420624"/>
          </a:xfrm>
          <a:prstGeom prst="ellipse">
            <a:avLst/>
          </a:prstGeom>
          <a:solidFill>
            <a:srgbClr val="F4B400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407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25880" y="4288536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user input as int and handle non-numbers with try/except.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6D4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[errors]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5047488"/>
            <a:ext cx="1088136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77240" y="5166360"/>
            <a:ext cx="420624" cy="420624"/>
          </a:xfrm>
          <a:prstGeom prst="ellipse">
            <a:avLst/>
          </a:prstGeom>
          <a:solidFill>
            <a:srgbClr val="F4B400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5166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325880" y="504748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collections.Counter to find the most common character in a string.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6D4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[stdlib]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0080" y="5806440"/>
            <a:ext cx="10881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77240" y="5925312"/>
            <a:ext cx="420624" cy="420624"/>
          </a:xfrm>
          <a:prstGeom prst="ellipse">
            <a:avLst/>
          </a:prstGeom>
          <a:solidFill>
            <a:srgbClr val="F4B400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5925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Q6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325880" y="580644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whether a string is a palindrome — then explain its time complexity.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6D4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[problem-solving]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9144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Practical Python recap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777240" y="2011680"/>
            <a:ext cx="5303520" cy="1298448"/>
          </a:xfrm>
          <a:prstGeom prst="rect">
            <a:avLst/>
          </a:prstGeom>
          <a:solidFill>
            <a:srgbClr val="1B4A73"/>
          </a:solidFill>
          <a:ln/>
        </p:spPr>
      </p:sp>
      <p:sp>
        <p:nvSpPr>
          <p:cNvPr id="5" name="Shape 3"/>
          <p:cNvSpPr/>
          <p:nvPr/>
        </p:nvSpPr>
        <p:spPr>
          <a:xfrm>
            <a:off x="978408" y="2377440"/>
            <a:ext cx="566928" cy="566928"/>
          </a:xfrm>
          <a:prstGeom prst="ellipse">
            <a:avLst/>
          </a:prstGeom>
          <a:solidFill>
            <a:srgbClr val="0F254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" y="2505456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176272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E0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Right structure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691640" y="2542032"/>
            <a:ext cx="4251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list/tuple/set/dict each have a job — picking well is half the battle.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309360" y="2011680"/>
            <a:ext cx="5303520" cy="1298448"/>
          </a:xfrm>
          <a:prstGeom prst="rect">
            <a:avLst/>
          </a:prstGeom>
          <a:solidFill>
            <a:srgbClr val="1B4A73"/>
          </a:solidFill>
          <a:ln/>
        </p:spPr>
      </p:sp>
      <p:sp>
        <p:nvSpPr>
          <p:cNvPr id="10" name="Shape 7"/>
          <p:cNvSpPr/>
          <p:nvPr/>
        </p:nvSpPr>
        <p:spPr>
          <a:xfrm>
            <a:off x="6510528" y="2377440"/>
            <a:ext cx="566928" cy="566928"/>
          </a:xfrm>
          <a:prstGeom prst="ellipse">
            <a:avLst/>
          </a:prstGeom>
          <a:solidFill>
            <a:srgbClr val="0F254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544" y="2505456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2176272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E0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Idioms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7223760" y="2542032"/>
            <a:ext cx="4251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comprehensions, generators, enumerate/zip make code short &amp; clear.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77240" y="3493008"/>
            <a:ext cx="5303520" cy="1298448"/>
          </a:xfrm>
          <a:prstGeom prst="rect">
            <a:avLst/>
          </a:prstGeom>
          <a:solidFill>
            <a:srgbClr val="1B4A73"/>
          </a:solidFill>
          <a:ln/>
        </p:spPr>
      </p:sp>
      <p:sp>
        <p:nvSpPr>
          <p:cNvPr id="15" name="Shape 11"/>
          <p:cNvSpPr/>
          <p:nvPr/>
        </p:nvSpPr>
        <p:spPr>
          <a:xfrm>
            <a:off x="978408" y="3858768"/>
            <a:ext cx="566928" cy="566928"/>
          </a:xfrm>
          <a:prstGeom prst="ellipse">
            <a:avLst/>
          </a:prstGeom>
          <a:solidFill>
            <a:srgbClr val="0F254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" y="3986784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3657600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E0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Robustness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691640" y="4023360"/>
            <a:ext cx="4251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errors with try/except; assert and test your assumptions.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309360" y="3493008"/>
            <a:ext cx="5303520" cy="1298448"/>
          </a:xfrm>
          <a:prstGeom prst="rect">
            <a:avLst/>
          </a:prstGeom>
          <a:solidFill>
            <a:srgbClr val="1B4A73"/>
          </a:solidFill>
          <a:ln/>
        </p:spPr>
      </p:sp>
      <p:sp>
        <p:nvSpPr>
          <p:cNvPr id="20" name="Shape 15"/>
          <p:cNvSpPr/>
          <p:nvPr/>
        </p:nvSpPr>
        <p:spPr>
          <a:xfrm>
            <a:off x="6510528" y="3858768"/>
            <a:ext cx="566928" cy="566928"/>
          </a:xfrm>
          <a:prstGeom prst="ellipse">
            <a:avLst/>
          </a:prstGeom>
          <a:solidFill>
            <a:srgbClr val="0F254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8544" y="3986784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23760" y="3657600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E0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method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7223760" y="4023360"/>
            <a:ext cx="4251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→ Plan → Code → Test → Refine, every time.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777240" y="5111496"/>
            <a:ext cx="10652760" cy="658368"/>
          </a:xfrm>
          <a:prstGeom prst="rect">
            <a:avLst/>
          </a:prstGeom>
          <a:solidFill>
            <a:srgbClr val="F4B400"/>
          </a:solidFill>
          <a:ln/>
        </p:spPr>
      </p:sp>
      <p:sp>
        <p:nvSpPr>
          <p:cNvPr id="25" name="Text 19"/>
          <p:cNvSpPr/>
          <p:nvPr/>
        </p:nvSpPr>
        <p:spPr>
          <a:xfrm>
            <a:off x="777240" y="5111496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Clear, idiomatic Python + a steady method beats clever one-liners.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Practical Python Programming &amp; Problem Solving</dc:title>
  <dc:subject>PptxGenJS Presentation</dc:subject>
  <dc:creator>Python Course</dc:creator>
  <cp:lastModifiedBy>Python Course</cp:lastModifiedBy>
  <cp:revision>1</cp:revision>
  <dcterms:created xsi:type="dcterms:W3CDTF">2026-06-07T08:29:13Z</dcterms:created>
  <dcterms:modified xsi:type="dcterms:W3CDTF">2026-06-07T08:29:13Z</dcterms:modified>
</cp:coreProperties>
</file>