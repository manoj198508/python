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Wall-clock time (s)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Sequential</c:v>
                  </c:pt>
                  <c:pt idx="1">
                    <c:v>Threaded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</c:v>
                </c:pt>
                <c:pt idx="1">
                  <c:v>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Wall-clock time (s)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20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Sequential</c:v>
                  </c:pt>
                  <c:pt idx="1">
                    <c:v>Threaded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B20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914400"/>
            <a:ext cx="3840480" cy="310896"/>
          </a:xfrm>
          <a:prstGeom prst="rect">
            <a:avLst/>
          </a:prstGeom>
          <a:solidFill>
            <a:srgbClr val="0891B2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1691640"/>
            <a:ext cx="3291840" cy="310896"/>
          </a:xfrm>
          <a:prstGeom prst="rect">
            <a:avLst/>
          </a:prstGeom>
          <a:solidFill>
            <a:srgbClr val="0F766E">
              <a:alpha val="3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63840" y="2468880"/>
            <a:ext cx="2743200" cy="310896"/>
          </a:xfrm>
          <a:prstGeom prst="rect">
            <a:avLst/>
          </a:prstGeom>
          <a:solidFill>
            <a:srgbClr val="0891B2">
              <a:alpha val="3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863840" y="3246120"/>
            <a:ext cx="3840480" cy="310896"/>
          </a:xfrm>
          <a:prstGeom prst="rect">
            <a:avLst/>
          </a:prstGeom>
          <a:solidFill>
            <a:srgbClr val="0F766E">
              <a:alpha val="3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863840" y="4023360"/>
            <a:ext cx="3291840" cy="310896"/>
          </a:xfrm>
          <a:prstGeom prst="rect">
            <a:avLst/>
          </a:prstGeom>
          <a:solidFill>
            <a:srgbClr val="0891B2">
              <a:alpha val="3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4800600"/>
            <a:ext cx="2743200" cy="310896"/>
          </a:xfrm>
          <a:prstGeom prst="rect">
            <a:avLst/>
          </a:prstGeom>
          <a:solidFill>
            <a:srgbClr val="0F766E">
              <a:alpha val="3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CONCURRENCY SERIES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Threading in Python</a:t>
            </a:r>
            <a:endParaRPr lang="en-US" sz="58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• the GIL • Synchronization • Multiprocessing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41248" y="4114800"/>
            <a:ext cx="20116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lecture for Engineering Students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cover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155448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1554480"/>
            <a:ext cx="2697480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9436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4088" y="2651760"/>
            <a:ext cx="22951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&amp; thread, concurrency vs parallelism, CPU vs I/O, the GIL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3310128" y="155448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10128" y="1554480"/>
            <a:ext cx="2697480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401568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with Threads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511296" y="2651760"/>
            <a:ext cx="22951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threads, start/join, daemon, life cycle, functions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117336" y="155448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17336" y="1554480"/>
            <a:ext cx="2697480" cy="777240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20" name="Text 17"/>
          <p:cNvSpPr/>
          <p:nvPr/>
        </p:nvSpPr>
        <p:spPr>
          <a:xfrm>
            <a:off x="6117336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08776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Synchronization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318504" y="2651760"/>
            <a:ext cx="22951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conditions, Lock, Semaphore, deadlocks, Queue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924544" y="1554480"/>
            <a:ext cx="26974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924544" y="1554480"/>
            <a:ext cx="269748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2"/>
          <p:cNvSpPr/>
          <p:nvPr/>
        </p:nvSpPr>
        <p:spPr>
          <a:xfrm>
            <a:off x="8924544" y="162763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015984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Threads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125712" y="2651760"/>
            <a:ext cx="229514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ThreadPoolExecutor, multiprocessing, choosing the right tool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→ Process → Thread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4290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38528" y="1965960"/>
            <a:ext cx="868680" cy="86868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176272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926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14400" y="3429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passive set of instructions stored on disk (e.g. app.py). It does nothing until run.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096512" y="29260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343400" y="1691640"/>
            <a:ext cx="34290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41848" y="1965960"/>
            <a:ext cx="868680" cy="86868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217627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2926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</a:t>
            </a:r>
            <a:endParaRPr lang="en-US" sz="2100" dirty="0"/>
          </a:p>
        </p:txBody>
      </p:sp>
      <p:sp>
        <p:nvSpPr>
          <p:cNvPr id="16" name="Text 12"/>
          <p:cNvSpPr/>
          <p:nvPr/>
        </p:nvSpPr>
        <p:spPr>
          <a:xfrm>
            <a:off x="4617720" y="3429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instance of a program. The OS gives it its own private memory space.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799832" y="2926080"/>
            <a:ext cx="228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8046720" y="1691640"/>
            <a:ext cx="34290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345168" y="1965960"/>
            <a:ext cx="868680" cy="86868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176272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46720" y="2926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B4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8321040" y="34290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unit of execution inside a process. Threads of one process SHARE memory.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 is the super-power AND the danger of threads — </a:t>
            </a:r>
            <a:pPr algn="ctr"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data exchange cheap, but causes race conditions (Part 3).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Concurrency vs Parallelism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4114800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82880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worker interleaves tasks — taking turns very fast.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926080"/>
            <a:ext cx="603504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260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64208" y="2926080"/>
            <a:ext cx="60350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1664208" y="29260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22576" y="2926080"/>
            <a:ext cx="603504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2322576" y="29260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80944" y="2926080"/>
            <a:ext cx="60350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2980944" y="29260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39312" y="2926080"/>
            <a:ext cx="603504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3639312" y="29260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603504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2926080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CPU core  →  time 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0233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Dealing with many things at once (chef stirring 3 pots in turn).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63640" y="1645920"/>
            <a:ext cx="525780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182880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PARALLELISM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37960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workers act at the literally same instant.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040880" y="2743200"/>
            <a:ext cx="658368" cy="3108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7" name="Shape 25"/>
          <p:cNvSpPr/>
          <p:nvPr/>
        </p:nvSpPr>
        <p:spPr>
          <a:xfrm>
            <a:off x="7754112" y="2743200"/>
            <a:ext cx="658368" cy="3108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8" name="Shape 26"/>
          <p:cNvSpPr/>
          <p:nvPr/>
        </p:nvSpPr>
        <p:spPr>
          <a:xfrm>
            <a:off x="8467344" y="2743200"/>
            <a:ext cx="658368" cy="31089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9" name="Text 27"/>
          <p:cNvSpPr/>
          <p:nvPr/>
        </p:nvSpPr>
        <p:spPr>
          <a:xfrm>
            <a:off x="9235440" y="27432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3127248"/>
            <a:ext cx="658368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Shape 29"/>
          <p:cNvSpPr/>
          <p:nvPr/>
        </p:nvSpPr>
        <p:spPr>
          <a:xfrm>
            <a:off x="7754112" y="3127248"/>
            <a:ext cx="658368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Shape 30"/>
          <p:cNvSpPr/>
          <p:nvPr/>
        </p:nvSpPr>
        <p:spPr>
          <a:xfrm>
            <a:off x="8467344" y="3127248"/>
            <a:ext cx="658368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31272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0" y="3511296"/>
            <a:ext cx="658368" cy="310896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5" name="Shape 33"/>
          <p:cNvSpPr/>
          <p:nvPr/>
        </p:nvSpPr>
        <p:spPr>
          <a:xfrm>
            <a:off x="7754112" y="3511296"/>
            <a:ext cx="658368" cy="310896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6" name="Shape 34"/>
          <p:cNvSpPr/>
          <p:nvPr/>
        </p:nvSpPr>
        <p:spPr>
          <a:xfrm>
            <a:off x="8467344" y="3511296"/>
            <a:ext cx="658368" cy="310896"/>
          </a:xfrm>
          <a:prstGeom prst="rect">
            <a:avLst/>
          </a:prstGeom>
          <a:solidFill>
            <a:srgbClr val="0B4F4A"/>
          </a:solidFill>
          <a:ln/>
        </p:spPr>
      </p:sp>
      <p:sp>
        <p:nvSpPr>
          <p:cNvPr id="37" name="Text 35"/>
          <p:cNvSpPr/>
          <p:nvPr/>
        </p:nvSpPr>
        <p:spPr>
          <a:xfrm>
            <a:off x="9235440" y="351129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402336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many things at once on multiple cores (3 chefs, 3 pots).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CPython, threads give concurrency — but the GIL blocks true CPU parallelism.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use Threading? (Advantages)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2286000"/>
            <a:ext cx="731520" cy="73152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688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20240" y="2075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Overlap of waiting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920240" y="25146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one thread waits on slow I/O, another does useful work — no freeze.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178308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286000"/>
            <a:ext cx="731520" cy="73152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4688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0" y="20756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memory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7498080" y="251460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share globals &amp; objects, so exchanging data is cheap (no copying).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40080" y="374904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60120" y="4251960"/>
            <a:ext cx="731520" cy="73152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434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20240" y="4041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Lightweight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920240" y="44805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thread is far cheaper than spawning a whole new process.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217920" y="3749040"/>
            <a:ext cx="5349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537960" y="4251960"/>
            <a:ext cx="731520" cy="731520"/>
          </a:xfrm>
          <a:prstGeom prst="ellipse">
            <a:avLst/>
          </a:prstGeom>
          <a:solidFill>
            <a:srgbClr val="E6F4F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4348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98080" y="40416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Natural for I/O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7498080" y="44805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programs that mostly wait — servers, scrapers, downloaders.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CPU-bound vs I/O-bound — the deciding question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349240" cy="3246120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I/O-BOUND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55448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most time WAITING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29260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requests, disk reads, databases, sleep, user input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Downloads, web scraping, API calls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THREADING (or asyncio)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63640" y="1691640"/>
            <a:ext cx="5257800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9202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1938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CPU-BOUND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178040" y="2377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most time COMPUTING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29400" y="29260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math, loops, encryption, compression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/ video / data processing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Use MULTIPROCESSING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5212080"/>
            <a:ext cx="10881360" cy="868680"/>
          </a:xfrm>
          <a:prstGeom prst="rect">
            <a:avLst/>
          </a:prstGeom>
          <a:solidFill>
            <a:srgbClr val="0B202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406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52120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Threads for WAITING. Processes for COMPUTING.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GIL — Global Interpreter Lock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566928"/>
            <a:ext cx="256032" cy="2560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645920"/>
            <a:ext cx="58521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91440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221284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mutex inside CPython that lets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thread run Python bytecode at a time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on a multi-core CPU.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1440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exists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3538728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CPython's reference-counting memory management simple &amp; fast, and speeds up single-threaded code.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914400" y="4572000"/>
            <a:ext cx="5349240" cy="960120"/>
          </a:xfrm>
          <a:prstGeom prst="rect">
            <a:avLst/>
          </a:prstGeom>
          <a:solidFill>
            <a:srgbClr val="E6F4F1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45720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pPr indent="0" marL="0">
              <a:buNone/>
            </a:pPr>
            <a:r>
              <a:rPr lang="en-US" sz="1550" i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for waiting, processes for computing.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6675120" y="1645920"/>
            <a:ext cx="4846320" cy="4160520"/>
          </a:xfrm>
          <a:prstGeom prst="rect">
            <a:avLst/>
          </a:prstGeom>
          <a:solidFill>
            <a:srgbClr val="0B202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494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Consequences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494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52360" y="2313432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 Python code does NOT speed up with threads — they just take turns.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94944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52360" y="3392424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 code DOES speed up — the GIL is released while waiting on I/O.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949440" y="4489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452360" y="4471416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C-extensions (NumPy) release the GIL during heavy computation.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Creating a thread with a function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recommended high-level way — the threading module: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9933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normal function for the thread to run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9077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it:  threading.Thread(target=fn, args=(...))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8221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 .start()  to run it in a new thread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473659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 .join()  to wait for it to finish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1783080"/>
            <a:ext cx="5669280" cy="393192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52160" y="1783080"/>
            <a:ext cx="82296" cy="39319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1" name="Text 19"/>
          <p:cNvSpPr/>
          <p:nvPr/>
        </p:nvSpPr>
        <p:spPr>
          <a:xfrm>
            <a:off x="6053328" y="1892808"/>
            <a:ext cx="5303520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show(name):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print(f"Hello, {name}!")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threading.Thread(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target=show, args=("Alice",))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t.start()   # run in a new thread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t.join()    # wait until it finishes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print("Main continues...")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start() vs join() — order matters!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349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start()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the thread and returns immediately. The caller keeps going.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34924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320040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join()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the caller until that thread is done.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5349240" cy="10515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02920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480060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Pitfall: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start()+join() in the same loop runs threads sequentially. Start ALL first, then join ALL.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1783080"/>
            <a:ext cx="5349240" cy="406908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1783080"/>
            <a:ext cx="82296" cy="40690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5" name="Text 12"/>
          <p:cNvSpPr/>
          <p:nvPr/>
        </p:nvSpPr>
        <p:spPr>
          <a:xfrm>
            <a:off x="6373368" y="1892808"/>
            <a:ext cx="498348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WRONG -&gt; sequential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range(3):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Thread(target=work, args=(i,))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t.start(); t.join()   # waits each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RIGHT -&gt; concurrent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 = [Thread(target=work, args=(i,))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i in range(3)]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ts: t.start()   # start all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ts: t.join()    # then join all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I/O-bound work → threading WINS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+ cube with a 0.2s sleep per number (simulated I/O). Threading overlaps the waiting: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10312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2103120"/>
            <a:ext cx="5120640" cy="365760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2103120"/>
            <a:ext cx="82296" cy="36576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0" name="Text 7"/>
          <p:cNvSpPr/>
          <p:nvPr/>
        </p:nvSpPr>
        <p:spPr>
          <a:xfrm>
            <a:off x="6601968" y="2212848"/>
            <a:ext cx="475488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= Thread(target=calc_square,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args=(arr,))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= Thread(target=calc_cube,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args=(arr,))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t1.start(); t2.start()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t1.join();  t2.join()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~half the time: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threads wait together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CPU-bound work → the GIL blocks the speed-up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sleeping with a real 20-million-iteration loop. Threads can't run bytecode in parallel: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10312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400800" y="2103120"/>
            <a:ext cx="5120640" cy="137160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29400" y="210312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speed-up (often a touch slower from switching). </a:t>
            </a:r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GIL in action.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0" y="3657600"/>
            <a:ext cx="5120640" cy="2103120"/>
          </a:xfrm>
          <a:prstGeom prst="rect">
            <a:avLst/>
          </a:prstGeom>
          <a:solidFill>
            <a:srgbClr val="E6F4F1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3886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fix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29400" y="43891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CPU-bound work, swap threading for multiprocessing (Part 4): separate processes, separate GILs, real parallel cores.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other ways to create threads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Subclass  </a:t>
            </a:r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threading.Thread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5394960" cy="365760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11680"/>
            <a:ext cx="82296" cy="36576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21408"/>
            <a:ext cx="502920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MyThread(threading.Thread):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name):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run(self):     # thread body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 in range(3):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print(self.name, i)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MyThread("T-1").start()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0" y="1600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Low-level  </a:t>
            </a:r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_thread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303520" cy="365760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2011680"/>
            <a:ext cx="82296" cy="365760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121408"/>
            <a:ext cx="493776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_thread, time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task(name, delay):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range(3):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time.sleep(delay)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print(name, i)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_thread.start_new_thread(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task, ("Low-1", 0.2))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older API, no clean join() -&gt; prefer threading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Daemon vs Non-daemon threads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3566160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1168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NON-DAEMON  (default)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WAITS for them to finish before exiting.</a:t>
            </a:r>
            <a:endParaRPr lang="en-US" sz="15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essential work that must complete.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201168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DAEMON  (daemon=True)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29400" y="2606040"/>
            <a:ext cx="4663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Killed instantly when the main program exits — even mid-task.</a:t>
            </a:r>
            <a:endParaRPr lang="en-US" sz="15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background helpers: auto-save, monitoring, logging.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40080" y="5486400"/>
            <a:ext cx="10881360" cy="96012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5486400"/>
            <a:ext cx="82296" cy="9601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" y="5596128"/>
            <a:ext cx="105156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threading.Thread(target=background_job, daemon=True);  d.start()   # dies when main() ends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threading functions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10881360" cy="5486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12080" y="18288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377440"/>
            <a:ext cx="10881360" cy="713232"/>
          </a:xfrm>
          <a:prstGeom prst="rect">
            <a:avLst/>
          </a:prstGeom>
          <a:solidFill>
            <a:srgbClr val="E6F4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77440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threading.active_count()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212080" y="237744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Thread objects currently alive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10881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9067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threading.current_thread()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3090672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object for the caller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3803904"/>
            <a:ext cx="10881360" cy="713232"/>
          </a:xfrm>
          <a:prstGeom prst="rect">
            <a:avLst/>
          </a:prstGeom>
          <a:solidFill>
            <a:srgbClr val="E6F4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03904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threading.main_thread()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3803904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Thread object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517136"/>
            <a:ext cx="1088136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1713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threading.enumerate()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0" y="4517136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all alive Thread objects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230368"/>
            <a:ext cx="10881360" cy="713232"/>
          </a:xfrm>
          <a:prstGeom prst="rect">
            <a:avLst/>
          </a:prstGeom>
          <a:solidFill>
            <a:srgbClr val="E6F4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23036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threading.Timer(secs, fn)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5230368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fn after a delay (in its own thread)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 life cycle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created,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15184" y="246888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2608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2608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start();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run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01184" y="246888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21208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0B4F4A"/>
          </a:solidFill>
          <a:ln/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its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body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187184" y="246888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749808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9808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BLOCKED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58952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I/O,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or a lock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473184" y="2468880"/>
            <a:ext cx="3291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784080" y="246888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334155"/>
          </a:solidFill>
          <a:ln/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84080" y="26060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TERMINATED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75520" y="30632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run() finished;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back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663440"/>
            <a:ext cx="10881360" cy="914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blocked thread returns to RUNNABLE when its wait ends — then is scheduled again. When run() returns (or raises), the thread is TERMINATED and joins the main thread.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Shared state &amp; race conditions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66928"/>
            <a:ext cx="292608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+= 1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NOT atomic — it is read → add → write. If two threads interleave those steps, an update is lost.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5486400" cy="352044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286000"/>
            <a:ext cx="82296" cy="35204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395728"/>
            <a:ext cx="51206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200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deposit(amount, times):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balance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range(times):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balance += amount   # read-add-write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deposit &amp; withdraw 1,000,000 times each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final balance is often WRONG (not 200)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0" y="2286000"/>
            <a:ext cx="5120640" cy="352044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29400" y="2423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breaks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629400" y="292608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reads balance = 200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reads balance = 200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0B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 writes 201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 writes 199  ← T1's update lost!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Lock — the fix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only one thread enter the critical section at a time. Best practice: use </a:t>
            </a:r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lock:</a:t>
            </a:r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it's always released.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6035040" cy="352044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286000"/>
            <a:ext cx="82296" cy="35204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395728"/>
            <a:ext cx="56692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= threading.Lock()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deposit(amount, times):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balance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_ in range(times):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with lock:            # critical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balance += amount   # section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final balance is now ALWAYS 200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2286000"/>
            <a:ext cx="4663440" cy="3520440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251460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40880" y="3246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4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acquire() / release()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040880" y="3657600"/>
            <a:ext cx="4297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acquire() — take the lock (blocks if held)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release() — give it back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lock: does both automatically, even on error.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RLock &amp; Semaphore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RLock (re-entrant)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26974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acquired multiple times by the SAME thread without deadlocking itself. Useful in recursive code or when a locked method calls another locked method.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4160520"/>
            <a:ext cx="4800600" cy="141732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4160520"/>
            <a:ext cx="82296" cy="14173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2" name="Text 9"/>
          <p:cNvSpPr/>
          <p:nvPr/>
        </p:nvSpPr>
        <p:spPr>
          <a:xfrm>
            <a:off x="1115568" y="4270248"/>
            <a:ext cx="44348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 = threading.RLock()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lock: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lock:  # OK, same thread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63640" y="1783080"/>
            <a:ext cx="5257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23760" y="2057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Semaphore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6537960" y="269748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up to N threads into a section at once (a counter, not just 0/1). Great for limiting concurrency — e.g. “at most 2 downloads at a time.”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6537960" y="4160520"/>
            <a:ext cx="4754880" cy="141732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537960" y="4160520"/>
            <a:ext cx="82296" cy="14173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5"/>
          <p:cNvSpPr/>
          <p:nvPr/>
        </p:nvSpPr>
        <p:spPr>
          <a:xfrm>
            <a:off x="6739128" y="4270248"/>
            <a:ext cx="438912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 = threading.Semaphore(2)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sem:   # max 2 at a time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do_work()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Deadlocks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55778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 each hold a lock the other needs — so both wait forever.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88720" y="228600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0F766E"/>
          </a:solidFill>
          <a:ln/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88720" y="228600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Lock-1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Lock-2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188720" y="402336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0891B2"/>
          </a:solidFill>
          <a:ln/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188720" y="4023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Lock-2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Lock-1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60520" y="2834640"/>
            <a:ext cx="914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⇄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4023360" y="4572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FROZEN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943600" y="2286000"/>
            <a:ext cx="5577840" cy="2926080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251460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812280" y="25420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4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cure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199632" y="310896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acquire multiple locks in the SAME global order.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with-blocks so locks are always released.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acquire(timeout=...) to fail fast instead of hanging.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Thread-safe Queue (producer–consumer)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queue.Queue</a:t>
            </a:r>
            <a:pPr indent="0" marL="0">
              <a:buNone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thread-safe FIFO — no manual locks needed. The clean way to pass work between threads.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put(item)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0" y="2377440"/>
            <a:ext cx="585216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Shape 8"/>
          <p:cNvSpPr/>
          <p:nvPr/>
        </p:nvSpPr>
        <p:spPr>
          <a:xfrm>
            <a:off x="4315968" y="2377440"/>
            <a:ext cx="585216" cy="5486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1" name="Shape 9"/>
          <p:cNvSpPr/>
          <p:nvPr/>
        </p:nvSpPr>
        <p:spPr>
          <a:xfrm>
            <a:off x="4974336" y="2377440"/>
            <a:ext cx="585216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Shape 10"/>
          <p:cNvSpPr/>
          <p:nvPr/>
        </p:nvSpPr>
        <p:spPr>
          <a:xfrm>
            <a:off x="5632704" y="2377440"/>
            <a:ext cx="585216" cy="5486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 (FIFO)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66560" y="219456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194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55080" y="2286000"/>
            <a:ext cx="457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10881360" cy="233172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20440"/>
            <a:ext cx="82296" cy="2331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3630168"/>
            <a:ext cx="1051560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 = queue.Queue()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producer():            def consumer():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x in items:            while True: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q.put(x)                   item = q.get()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q.put(None)  # stop            if item is None: break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print(item)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ThreadPoolExecutor — the modern way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7276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pool of workers manage threads for you — no manual start/join.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2194560"/>
            <a:ext cx="5486400" cy="749808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219456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submit(fn, arg)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108960" y="219456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one call → returns a Future; read .result()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3063240"/>
            <a:ext cx="5486400" cy="749808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22960" y="306324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map(fn, iter)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108960" y="306324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map; results come back in input order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931920"/>
            <a:ext cx="5486400" cy="749808"/>
          </a:xfrm>
          <a:prstGeom prst="rect">
            <a:avLst/>
          </a:prstGeom>
          <a:solidFill>
            <a:srgbClr val="E6F4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2960" y="393192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as_completed(futs)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3108960" y="3931920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yields futures as they finish (completion order)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2194560"/>
            <a:ext cx="5120640" cy="338328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00800" y="2194560"/>
            <a:ext cx="82296" cy="33832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6"/>
          <p:cNvSpPr/>
          <p:nvPr/>
        </p:nvSpPr>
        <p:spPr>
          <a:xfrm>
            <a:off x="6601968" y="2304288"/>
            <a:ext cx="475488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\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ThreadPoolExecutor, as_completed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ThreadPoolExecutor() as ex: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futs = [ex.submit(task, i)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i in range(10)]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f in as_completed(futs):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print(f.result())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 x 1s tasks finish in ~1s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threading isn't enough → multiprocessing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processes, each with its OWN interpreter &amp; GIL → true multi-core parallelism for CPU 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5486400" cy="2103120"/>
          </a:xfrm>
          <a:prstGeom prst="rect">
            <a:avLst/>
          </a:prstGeom>
          <a:solidFill>
            <a:srgbClr val="0B2027"/>
          </a:solidFill>
          <a:ln w="12700">
            <a:solidFill>
              <a:srgbClr val="0B4F4A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57400"/>
            <a:ext cx="82296" cy="21031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67128"/>
            <a:ext cx="512064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multiprocessing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multiprocessing.Process(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target=work, args=(data,))</a:t>
            </a:r>
            <a:endParaRPr lang="en-US" sz="12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p.start(); p.join()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5486400" cy="150876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2027">
                <a:alpha val="14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6177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4343400"/>
            <a:ext cx="4572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with 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children don't re-run the launcher. Run as a .py script for reliability.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Processes don't share memory — pass data explicitly: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0" y="2468880"/>
            <a:ext cx="512064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0" y="246888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Value('i',0)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86800" y="246888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scalar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0" y="3145536"/>
            <a:ext cx="5120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3145536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Array('i',n)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686800" y="314553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fixed array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0" y="3822192"/>
            <a:ext cx="512064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83680" y="3822192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Queue()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8686800" y="382219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process-safe queue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0" y="4498848"/>
            <a:ext cx="512064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83680" y="449884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Pool()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686800" y="449884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work across N processes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0" y="5175504"/>
            <a:ext cx="5120640" cy="60350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583680" y="5175504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F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Lock()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8686800" y="51755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 across processes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66928" cy="56692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114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THREADS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34440" y="658368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Threading vs Multiprocessing vs Asyncio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2286000" cy="566928"/>
          </a:xfrm>
          <a:prstGeom prst="rect">
            <a:avLst/>
          </a:prstGeom>
          <a:solidFill>
            <a:srgbClr val="0B20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26080" y="1828800"/>
            <a:ext cx="2862072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8288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88152" y="1828800"/>
            <a:ext cx="2862072" cy="5669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788152" y="182880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Multiprocessing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650224" y="1828800"/>
            <a:ext cx="2871216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8650224" y="1828800"/>
            <a:ext cx="2871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Asyncio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395728"/>
            <a:ext cx="2286000" cy="713232"/>
          </a:xfrm>
          <a:prstGeom prst="rect">
            <a:avLst/>
          </a:prstGeom>
          <a:solidFill>
            <a:srgbClr val="E6F4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9572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2395728"/>
            <a:ext cx="286207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395728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I/O-bound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788152" y="2395728"/>
            <a:ext cx="286207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2395728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CPU-bound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50224" y="2395728"/>
            <a:ext cx="2871216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41664" y="2395728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I/O (1000s)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108960"/>
            <a:ext cx="2286000" cy="713232"/>
          </a:xfrm>
          <a:prstGeom prst="rect">
            <a:avLst/>
          </a:prstGeom>
          <a:solidFill>
            <a:srgbClr val="E6F4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10896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CPU?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926080" y="3108960"/>
            <a:ext cx="28620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108960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(GIL)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788152" y="3108960"/>
            <a:ext cx="28620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9592" y="3108960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650224" y="3108960"/>
            <a:ext cx="28712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41664" y="3108960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3822192"/>
            <a:ext cx="2286000" cy="713232"/>
          </a:xfrm>
          <a:prstGeom prst="rect">
            <a:avLst/>
          </a:prstGeom>
          <a:solidFill>
            <a:srgbClr val="E6F4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822192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926080" y="3822192"/>
            <a:ext cx="286207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3822192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788152" y="3822192"/>
            <a:ext cx="286207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3822192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(copy)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650224" y="3822192"/>
            <a:ext cx="2871216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41664" y="3822192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(1 thread)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" y="4535424"/>
            <a:ext cx="2286000" cy="713232"/>
          </a:xfrm>
          <a:prstGeom prst="rect">
            <a:avLst/>
          </a:prstGeom>
          <a:solidFill>
            <a:srgbClr val="E6F4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535424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926080" y="4535424"/>
            <a:ext cx="28620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017520" y="4535424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788152" y="4535424"/>
            <a:ext cx="286207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9592" y="4535424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650224" y="4535424"/>
            <a:ext cx="2871216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41664" y="4535424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40080" y="5248656"/>
            <a:ext cx="2286000" cy="713232"/>
          </a:xfrm>
          <a:prstGeom prst="rect">
            <a:avLst/>
          </a:prstGeom>
          <a:solidFill>
            <a:srgbClr val="E6F4F1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1520" y="5248656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926080" y="5248656"/>
            <a:ext cx="286207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5248656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(locks)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788152" y="5248656"/>
            <a:ext cx="2862072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9592" y="5248656"/>
            <a:ext cx="26791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50224" y="5248656"/>
            <a:ext cx="2871216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41664" y="5248656"/>
            <a:ext cx="2688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(async/await)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guide:  waiting on network/disk → threading or asyncio  •  heavy computing → multiprocessing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960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Threading in Python — the essentials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257800" cy="1737360"/>
          </a:xfrm>
          <a:prstGeom prst="rect">
            <a:avLst/>
          </a:prstGeom>
          <a:solidFill>
            <a:srgbClr val="14323A"/>
          </a:solidFill>
          <a:ln w="12700">
            <a:solidFill>
              <a:srgbClr val="0B4F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2514600"/>
            <a:ext cx="731520" cy="73152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697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1168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GIL rules everything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11680" y="27249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thread runs Python bytecode at a time. Threads help I/O, not CPU.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2011680"/>
            <a:ext cx="5257800" cy="1737360"/>
          </a:xfrm>
          <a:prstGeom prst="rect">
            <a:avLst/>
          </a:prstGeom>
          <a:solidFill>
            <a:srgbClr val="14323A"/>
          </a:solidFill>
          <a:ln w="12700">
            <a:solidFill>
              <a:srgbClr val="0B4F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2514600"/>
            <a:ext cx="731520" cy="73152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697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 shared state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543800" y="272491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Lock / with-blocks or queue.Queue to avoid race conditions &amp; deadlocks.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77240" y="3977640"/>
            <a:ext cx="5257800" cy="1737360"/>
          </a:xfrm>
          <a:prstGeom prst="rect">
            <a:avLst/>
          </a:prstGeom>
          <a:solidFill>
            <a:srgbClr val="14323A"/>
          </a:solidFill>
          <a:ln w="12700">
            <a:solidFill>
              <a:srgbClr val="0B4F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51560" y="4480560"/>
            <a:ext cx="731520" cy="73152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663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11680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high-level tools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2011680" y="469087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ThreadPoolExecutor and Pool over hand-managing threads.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3977640"/>
            <a:ext cx="5257800" cy="1737360"/>
          </a:xfrm>
          <a:prstGeom prst="rect">
            <a:avLst/>
          </a:prstGeom>
          <a:solidFill>
            <a:srgbClr val="14323A"/>
          </a:solidFill>
          <a:ln w="12700">
            <a:solidFill>
              <a:srgbClr val="0B4F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480560"/>
            <a:ext cx="731520" cy="731520"/>
          </a:xfrm>
          <a:prstGeom prst="ellipse">
            <a:avLst/>
          </a:prstGeom>
          <a:solidFill>
            <a:srgbClr val="0B20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663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3800" y="42519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Right tool, right job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543800" y="469087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for waiting, multiprocessing for computing, asyncio for huge I/O.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777240" y="5989320"/>
            <a:ext cx="10607040" cy="6400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5" name="Text 19"/>
          <p:cNvSpPr/>
          <p:nvPr/>
        </p:nvSpPr>
        <p:spPr>
          <a:xfrm>
            <a:off x="777240" y="5989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 → WAITING   |   multiprocessing → COMPUTING   |   Lock/Queue → safe sharing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Threading in Python</dc:title>
  <dc:subject>PptxGenJS Presentation</dc:subject>
  <dc:creator>Lecture Notes</dc:creator>
  <cp:lastModifiedBy>Lecture Notes</cp:lastModifiedBy>
  <cp:revision>1</cp:revision>
  <dcterms:created xsi:type="dcterms:W3CDTF">2026-05-28T18:11:50Z</dcterms:created>
  <dcterms:modified xsi:type="dcterms:W3CDTF">2026-05-28T18:11:50Z</dcterms:modified>
</cp:coreProperties>
</file>