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69680" y="73152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1B4A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}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9052560" y="24688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B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FUNDAMENTALS · MODULE 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219456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Variable Scope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77240" y="297180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7EC8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Namespaces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39776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names live and which one Python picks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22960" y="461772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LEGB, global / nonlocal, closures — and avoid surprising bugs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20624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34440" y="658368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F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a namespace?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namespace</a:t>
            </a:r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mapping from names to objects — like a dictionary {'x': 10}. Different namespaces can hold the same name without clashing, just like two people can both be “Ravi” in different classes.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377440"/>
            <a:ext cx="6126480" cy="2926080"/>
          </a:xfrm>
          <a:prstGeom prst="rect">
            <a:avLst/>
          </a:prstGeom>
          <a:solidFill>
            <a:srgbClr val="0F2540"/>
          </a:solidFill>
          <a:ln w="12700">
            <a:solidFill>
              <a:srgbClr val="1B4A73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2377440"/>
            <a:ext cx="82296" cy="2926080"/>
          </a:xfrm>
          <a:prstGeom prst="rect">
            <a:avLst/>
          </a:prstGeom>
          <a:solidFill>
            <a:srgbClr val="F4B400"/>
          </a:solidFill>
          <a:ln/>
        </p:spPr>
      </p:sp>
      <p:sp>
        <p:nvSpPr>
          <p:cNvPr id="9" name="Text 7"/>
          <p:cNvSpPr/>
          <p:nvPr/>
        </p:nvSpPr>
        <p:spPr>
          <a:xfrm>
            <a:off x="859536" y="2487168"/>
            <a:ext cx="5742432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10            # name 'x' -&gt; object 10</a:t>
            </a:r>
            <a:endParaRPr lang="en-US" sz="12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f():</a:t>
            </a:r>
            <a:endParaRPr lang="en-US" sz="12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 = 99        # a DIFFERENT 'x' lives here</a:t>
            </a:r>
            <a:endParaRPr lang="en-US" sz="12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print('inside:', x)</a:t>
            </a:r>
            <a:endParaRPr lang="en-US" sz="12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f()               # inside: 99</a:t>
            </a:r>
            <a:endParaRPr lang="en-US" sz="12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print('outside:', x)   # outside: 10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995160" y="2377440"/>
            <a:ext cx="4526280" cy="2926080"/>
          </a:xfrm>
          <a:prstGeom prst="rect">
            <a:avLst/>
          </a:prstGeom>
          <a:solidFill>
            <a:srgbClr val="E3EEF6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223760" y="25420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A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Namespace vs scope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223760" y="2971800"/>
            <a:ext cx="4114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1B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the container of names (the dictionary).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7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the region of code where a namespace is directly reachable.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7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function call creates a fresh local namespace.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20624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RULE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34440" y="658368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F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LEGB lookup rule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resolve a name, Python searches four scopes in order and stops at the first match.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2148840"/>
            <a:ext cx="6766560" cy="74980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2267712"/>
            <a:ext cx="512064" cy="512064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2677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508760" y="2148840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74720" y="2148840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inside the current function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017520"/>
            <a:ext cx="67665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960" y="3136392"/>
            <a:ext cx="512064" cy="512064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1363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508760" y="3017520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A9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Enclosing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474720" y="3017520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in any outer (nesting) function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3886200"/>
            <a:ext cx="6766560" cy="74980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2960" y="4005072"/>
            <a:ext cx="512064" cy="512064"/>
          </a:xfrm>
          <a:prstGeom prst="ellipse">
            <a:avLst/>
          </a:prstGeom>
          <a:solidFill>
            <a:srgbClr val="6D4AFF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0050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508760" y="3886200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4A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Global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474720" y="3886200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at the top level of the module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4754880"/>
            <a:ext cx="67665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22960" y="4873752"/>
            <a:ext cx="512064" cy="512064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48737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508760" y="4754880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6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Built-in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474720" y="4754880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Python always provides (len, print, range)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589520" y="2148840"/>
            <a:ext cx="3931920" cy="3310128"/>
          </a:xfrm>
          <a:prstGeom prst="rect">
            <a:avLst/>
          </a:prstGeom>
          <a:solidFill>
            <a:srgbClr val="0F2540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818120" y="22860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E0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Search direction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818120" y="278892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↓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Enclosing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↓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Global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↓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Built-in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818120" y="49377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match wins; if none match → NameError.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20624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&amp; 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34440" y="658368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F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Local vs global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6126480" cy="3291840"/>
          </a:xfrm>
          <a:prstGeom prst="rect">
            <a:avLst/>
          </a:prstGeom>
          <a:solidFill>
            <a:srgbClr val="0F2540"/>
          </a:solidFill>
          <a:ln w="12700">
            <a:solidFill>
              <a:srgbClr val="1B4A73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828800"/>
            <a:ext cx="82296" cy="3291840"/>
          </a:xfrm>
          <a:prstGeom prst="rect">
            <a:avLst/>
          </a:prstGeom>
          <a:solidFill>
            <a:srgbClr val="F4B400"/>
          </a:solidFill>
          <a:ln/>
        </p:spPr>
      </p:sp>
      <p:sp>
        <p:nvSpPr>
          <p:cNvPr id="8" name="Text 6"/>
          <p:cNvSpPr/>
          <p:nvPr/>
        </p:nvSpPr>
        <p:spPr>
          <a:xfrm>
            <a:off x="859536" y="1938528"/>
            <a:ext cx="5742432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 = 0              # GLOBAL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increment():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 = count + 1  # ERROR: assigns -&gt; local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count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7C9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UnboundLocalError: 'count' used before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7C9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assignment, because assigning anywhere in a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7C9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function makes the name LOCAL for the whole fn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995160" y="1828800"/>
            <a:ext cx="4526280" cy="3291840"/>
          </a:xfrm>
          <a:prstGeom prst="rect">
            <a:avLst/>
          </a:prstGeom>
          <a:solidFill>
            <a:srgbClr val="FEF6E0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2011680"/>
            <a:ext cx="411480" cy="4114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726680" y="20299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86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classic trap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223760" y="2487168"/>
            <a:ext cx="4114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 global is fine. But assigning to a name anywhere inside a function makes Python treat it as LOCAL for the entire function — so reading it before assignment fails.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40080" y="5257800"/>
            <a:ext cx="10881360" cy="0"/>
          </a:xfrm>
          <a:prstGeom prst="rect">
            <a:avLst/>
          </a:prstGeom>
          <a:solidFill>
            <a:srgbClr val="0F2540"/>
          </a:solidFill>
          <a:ln w="12700">
            <a:solidFill>
              <a:srgbClr val="1B4A73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40080" y="5257800"/>
            <a:ext cx="82296" cy="0"/>
          </a:xfrm>
          <a:prstGeom prst="rect">
            <a:avLst/>
          </a:prstGeom>
          <a:solidFill>
            <a:srgbClr val="F4B400"/>
          </a:solidFill>
          <a:ln/>
        </p:spPr>
      </p:sp>
      <p:sp>
        <p:nvSpPr>
          <p:cNvPr id="15" name="Text 12"/>
          <p:cNvSpPr/>
          <p:nvPr/>
        </p:nvSpPr>
        <p:spPr>
          <a:xfrm>
            <a:off x="859536" y="5367528"/>
            <a:ext cx="10497312" cy="-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40080" y="5257800"/>
            <a:ext cx="10881360" cy="777240"/>
          </a:xfrm>
          <a:prstGeom prst="rect">
            <a:avLst/>
          </a:prstGeom>
          <a:solidFill>
            <a:srgbClr val="0F2540"/>
          </a:solidFill>
          <a:ln/>
        </p:spPr>
      </p:sp>
      <p:sp>
        <p:nvSpPr>
          <p:cNvPr id="17" name="Shape 14"/>
          <p:cNvSpPr/>
          <p:nvPr/>
        </p:nvSpPr>
        <p:spPr>
          <a:xfrm>
            <a:off x="640080" y="5257800"/>
            <a:ext cx="109728" cy="777240"/>
          </a:xfrm>
          <a:prstGeom prst="rect">
            <a:avLst/>
          </a:prstGeom>
          <a:solidFill>
            <a:srgbClr val="F4B400"/>
          </a:solidFill>
          <a:ln/>
        </p:spPr>
      </p:sp>
      <p:sp>
        <p:nvSpPr>
          <p:cNvPr id="18" name="Text 15"/>
          <p:cNvSpPr/>
          <p:nvPr/>
        </p:nvSpPr>
        <p:spPr>
          <a:xfrm>
            <a:off x="914400" y="525780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FFE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 →   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 global count inside the function to rebind the module-level variable — but reach for this sparingly; global state is hard to reason about.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20624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GLOBAL KEYWORD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34440" y="658368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F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Rebinding a global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6126480" cy="3108960"/>
          </a:xfrm>
          <a:prstGeom prst="rect">
            <a:avLst/>
          </a:prstGeom>
          <a:solidFill>
            <a:srgbClr val="0F2540"/>
          </a:solidFill>
          <a:ln w="12700">
            <a:solidFill>
              <a:srgbClr val="1B4A73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920240"/>
            <a:ext cx="82296" cy="3108960"/>
          </a:xfrm>
          <a:prstGeom prst="rect">
            <a:avLst/>
          </a:prstGeom>
          <a:solidFill>
            <a:srgbClr val="F4B400"/>
          </a:solidFill>
          <a:ln/>
        </p:spPr>
      </p:sp>
      <p:sp>
        <p:nvSpPr>
          <p:cNvPr id="8" name="Text 6"/>
          <p:cNvSpPr/>
          <p:nvPr/>
        </p:nvSpPr>
        <p:spPr>
          <a:xfrm>
            <a:off x="859536" y="2029968"/>
            <a:ext cx="5742432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 = 0</a:t>
            </a:r>
            <a:endParaRPr lang="en-US" sz="12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increment():</a:t>
            </a:r>
            <a:endParaRPr lang="en-US" sz="12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global count       # 'count' = the global one</a:t>
            </a:r>
            <a:endParaRPr lang="en-US" sz="12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 += 1</a:t>
            </a:r>
            <a:endParaRPr lang="en-US" sz="12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count</a:t>
            </a:r>
            <a:endParaRPr lang="en-US" sz="12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increment(); increment()</a:t>
            </a:r>
            <a:endParaRPr lang="en-US" sz="12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print(count)           # 2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995160" y="1920240"/>
            <a:ext cx="4526280" cy="31089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223760" y="20848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A9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it carefully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223760" y="2542032"/>
            <a:ext cx="4114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b="1" dirty="0">
                <a:solidFill>
                  <a:srgbClr val="6D4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global</a:t>
            </a:r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lets a function REBIND a module-level name.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Overusing globals creates hidden coupling — prefer returning values or using a class to hold state.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20624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· CLOSURES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34440" y="658368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F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Enclosing scope, closures &amp; nonlocal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nested function can see its enclosing function's variables. When it remembers them after the outer function returns, it's a closure. Use nonlocal to rebind them.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194560"/>
            <a:ext cx="6126480" cy="3291840"/>
          </a:xfrm>
          <a:prstGeom prst="rect">
            <a:avLst/>
          </a:prstGeom>
          <a:solidFill>
            <a:srgbClr val="0F2540"/>
          </a:solidFill>
          <a:ln w="12700">
            <a:solidFill>
              <a:srgbClr val="1B4A73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2194560"/>
            <a:ext cx="82296" cy="3291840"/>
          </a:xfrm>
          <a:prstGeom prst="rect">
            <a:avLst/>
          </a:prstGeom>
          <a:solidFill>
            <a:srgbClr val="F4B400"/>
          </a:solidFill>
          <a:ln/>
        </p:spPr>
      </p:sp>
      <p:sp>
        <p:nvSpPr>
          <p:cNvPr id="9" name="Text 7"/>
          <p:cNvSpPr/>
          <p:nvPr/>
        </p:nvSpPr>
        <p:spPr>
          <a:xfrm>
            <a:off x="859536" y="2304288"/>
            <a:ext cx="5742432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make_counter():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 = 0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step():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nonlocal n     # rebind enclosing n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 += 1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n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step        # closure over n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= make_counter()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print(c(), c(), c())   # 1 2 3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995160" y="2194560"/>
            <a:ext cx="4526280" cy="3291840"/>
          </a:xfrm>
          <a:prstGeom prst="rect">
            <a:avLst/>
          </a:prstGeom>
          <a:solidFill>
            <a:srgbClr val="E0F2F1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2377440"/>
            <a:ext cx="411480" cy="4114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726680" y="23957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What's a closure?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223760" y="2880360"/>
            <a:ext cx="4114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+ the enclosing variables it captured.</a:t>
            </a:r>
            <a:endParaRPr lang="en-US" sz="12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private state without a class.</a:t>
            </a:r>
            <a:endParaRPr lang="en-US" sz="12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decorators, callbacks &amp; factory functions.</a:t>
            </a:r>
            <a:endParaRPr lang="en-US" sz="12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nonlocal rebinds; without it, += would create a new local.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20624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34440" y="658368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F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Inspecting namespaces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6126480" cy="3291840"/>
          </a:xfrm>
          <a:prstGeom prst="rect">
            <a:avLst/>
          </a:prstGeom>
          <a:solidFill>
            <a:srgbClr val="0F2540"/>
          </a:solidFill>
          <a:ln w="12700">
            <a:solidFill>
              <a:srgbClr val="1B4A73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828800"/>
            <a:ext cx="82296" cy="3291840"/>
          </a:xfrm>
          <a:prstGeom prst="rect">
            <a:avLst/>
          </a:prstGeom>
          <a:solidFill>
            <a:srgbClr val="F4B400"/>
          </a:solidFill>
          <a:ln/>
        </p:spPr>
      </p:sp>
      <p:sp>
        <p:nvSpPr>
          <p:cNvPr id="8" name="Text 6"/>
          <p:cNvSpPr/>
          <p:nvPr/>
        </p:nvSpPr>
        <p:spPr>
          <a:xfrm>
            <a:off x="859536" y="1938528"/>
            <a:ext cx="5742432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5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f():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 = 9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print(locals())    # {'y': 9}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f()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print('x' in globals())   # True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print(len(dir(__builtins__)) &gt; 100)  # True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math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print('pi' in dir(math))  # module namespace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995160" y="1828800"/>
            <a:ext cx="1901038" cy="411480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10" name="Text 8"/>
          <p:cNvSpPr/>
          <p:nvPr/>
        </p:nvSpPr>
        <p:spPr>
          <a:xfrm>
            <a:off x="7068312" y="1828800"/>
            <a:ext cx="177302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896198" y="1828800"/>
            <a:ext cx="2625242" cy="411480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12" name="Text 10"/>
          <p:cNvSpPr/>
          <p:nvPr/>
        </p:nvSpPr>
        <p:spPr>
          <a:xfrm>
            <a:off x="8969350" y="1828800"/>
            <a:ext cx="249722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995160" y="2240280"/>
            <a:ext cx="1901038" cy="5486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68312" y="2240280"/>
            <a:ext cx="177302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globals()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896198" y="2240280"/>
            <a:ext cx="2625242" cy="5486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9350" y="2240280"/>
            <a:ext cx="249722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module-level names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995160" y="2788920"/>
            <a:ext cx="1901038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68312" y="2788920"/>
            <a:ext cx="177302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locals()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896198" y="2788920"/>
            <a:ext cx="2625242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69350" y="2788920"/>
            <a:ext cx="249722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local names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995160" y="3337560"/>
            <a:ext cx="1901038" cy="5486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68312" y="3337560"/>
            <a:ext cx="177302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dir(obj)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896198" y="3337560"/>
            <a:ext cx="2625242" cy="5486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69350" y="3337560"/>
            <a:ext cx="249722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on an object/module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995160" y="3886200"/>
            <a:ext cx="1901038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68312" y="3886200"/>
            <a:ext cx="177302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__builtins__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896198" y="3886200"/>
            <a:ext cx="2625242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69350" y="3886200"/>
            <a:ext cx="249722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names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995160" y="4434840"/>
            <a:ext cx="1901038" cy="5486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68312" y="4434840"/>
            <a:ext cx="177302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vars(obj)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8896198" y="4434840"/>
            <a:ext cx="2625242" cy="5486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969350" y="4434840"/>
            <a:ext cx="249722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obj's __dict__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995160" y="521208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module, class, and function call owns a separate namespace — these tools let you peek inside.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20624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34440" y="658368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F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Common scope pitfalls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10881360" cy="89611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783080"/>
            <a:ext cx="109728" cy="896112"/>
          </a:xfrm>
          <a:prstGeom prst="rect">
            <a:avLst/>
          </a:prstGeom>
          <a:solidFill>
            <a:srgbClr val="DB4437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89280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B4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Shadowing built-ins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914400" y="22402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a variable list, sum, or id hides the built-in for the rest of that scope.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807208"/>
            <a:ext cx="10881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807208"/>
            <a:ext cx="109728" cy="89611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91693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B886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Mutable default args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914400" y="3264408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 f(x=[]): the list is created ONCE and shared across calls — use None and create inside.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831336"/>
            <a:ext cx="10881360" cy="89611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3831336"/>
            <a:ext cx="109728" cy="896112"/>
          </a:xfrm>
          <a:prstGeom prst="rect">
            <a:avLst/>
          </a:prstGeom>
          <a:solidFill>
            <a:srgbClr val="6D4AFF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94106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D4A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Late-binding closures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914400" y="4288536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that build functions capture the variable, not its value — all may see the final value.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4855464"/>
            <a:ext cx="10881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4855464"/>
            <a:ext cx="109728" cy="896112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96519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D6A9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UnboundLocalError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914400" y="5312664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Assigning to a name later in a function makes it local everywhere in that function.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20624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REAL WORLD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34440" y="658368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F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scope matters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5349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286000"/>
            <a:ext cx="777240" cy="777240"/>
          </a:xfrm>
          <a:prstGeom prst="ellipse">
            <a:avLst/>
          </a:prstGeom>
          <a:solidFill>
            <a:srgbClr val="F1F5F9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2487168"/>
            <a:ext cx="374904" cy="37490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28800" y="21031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C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Decorators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828800" y="2578608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functions using closures over the enclosing function/argument.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72200" y="1828800"/>
            <a:ext cx="5349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46520" y="2286000"/>
            <a:ext cx="777240" cy="777240"/>
          </a:xfrm>
          <a:prstGeom prst="ellipse">
            <a:avLst/>
          </a:prstGeom>
          <a:solidFill>
            <a:srgbClr val="F1F5F9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7688" y="2487168"/>
            <a:ext cx="374904" cy="37490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360920" y="21031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6A9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Encapsulated state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7360920" y="2578608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closures keep counters/config private without a full class.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3703320"/>
            <a:ext cx="5349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14400" y="4160520"/>
            <a:ext cx="777240" cy="777240"/>
          </a:xfrm>
          <a:prstGeom prst="ellipse">
            <a:avLst/>
          </a:prstGeom>
          <a:solidFill>
            <a:srgbClr val="F1F5F9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4361688"/>
            <a:ext cx="374904" cy="37490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828800" y="39776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886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Avoiding global bugs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1828800" y="4453128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scope means fewer accidental cross-effects in big code-bases.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6172200" y="3703320"/>
            <a:ext cx="5349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446520" y="4160520"/>
            <a:ext cx="777240" cy="777240"/>
          </a:xfrm>
          <a:prstGeom prst="ellipse">
            <a:avLst/>
          </a:prstGeom>
          <a:solidFill>
            <a:srgbClr val="F1F5F9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7688" y="4361688"/>
            <a:ext cx="374904" cy="37490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360920" y="39776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D4A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Callbacks &amp; factories</a:t>
            </a:r>
            <a:endParaRPr lang="en-US" sz="1700" dirty="0"/>
          </a:p>
        </p:txBody>
      </p:sp>
      <p:sp>
        <p:nvSpPr>
          <p:cNvPr id="25" name="Text 19"/>
          <p:cNvSpPr/>
          <p:nvPr/>
        </p:nvSpPr>
        <p:spPr>
          <a:xfrm>
            <a:off x="7360920" y="4453128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customised functions on the fly (event handlers, config-bound logic).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?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234440" y="420624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34440" y="658368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F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Practice questions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0080" y="15361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these to check your understanding — tags show the skill each one builds.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1088136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2130552"/>
            <a:ext cx="420624" cy="420624"/>
          </a:xfrm>
          <a:prstGeom prst="ellipse">
            <a:avLst/>
          </a:prstGeom>
          <a:solidFill>
            <a:srgbClr val="F4B400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1305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25880" y="201168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output: x=1; def f(): x=2; f(); print(x). Explain using LEGB.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6D4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[logical]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770632"/>
            <a:ext cx="10881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2889504"/>
            <a:ext cx="420624" cy="420624"/>
          </a:xfrm>
          <a:prstGeom prst="ellipse">
            <a:avLst/>
          </a:prstGeom>
          <a:solidFill>
            <a:srgbClr val="F4B400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8895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25880" y="27706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an UnboundLocalError in a counter function two ways (global, and returning a value).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6D4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[apply]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529584"/>
            <a:ext cx="1088136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3648456"/>
            <a:ext cx="420624" cy="420624"/>
          </a:xfrm>
          <a:prstGeom prst="ellipse">
            <a:avLst/>
          </a:prstGeom>
          <a:solidFill>
            <a:srgbClr val="F4B400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648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25880" y="3529584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make_multiplier(k) that returns a function multiplying its input by k (closure).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6D4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[closure]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288536"/>
            <a:ext cx="10881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4407408"/>
            <a:ext cx="420624" cy="420624"/>
          </a:xfrm>
          <a:prstGeom prst="ellipse">
            <a:avLst/>
          </a:prstGeom>
          <a:solidFill>
            <a:srgbClr val="F4B400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407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25880" y="4288536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why def add(x, items=[]) is buggy, and rewrite it correctly.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6D4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[pitfall]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5047488"/>
            <a:ext cx="1088136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77240" y="5166360"/>
            <a:ext cx="420624" cy="420624"/>
          </a:xfrm>
          <a:prstGeom prst="ellipse">
            <a:avLst/>
          </a:prstGeom>
          <a:solidFill>
            <a:srgbClr val="F4B400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5166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325880" y="5047488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globals() and locals() to print the names visible inside and outside a function.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6D4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[tools]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40080" y="5806440"/>
            <a:ext cx="10881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77240" y="5925312"/>
            <a:ext cx="420624" cy="420624"/>
          </a:xfrm>
          <a:prstGeom prst="ellipse">
            <a:avLst/>
          </a:prstGeom>
          <a:solidFill>
            <a:srgbClr val="F4B400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5925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Q6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325880" y="580644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counter with nonlocal that can also reset() to zero.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6D4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[nonlocal]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9144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 &amp; namespaces recap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777240" y="2011680"/>
            <a:ext cx="5303520" cy="1298448"/>
          </a:xfrm>
          <a:prstGeom prst="rect">
            <a:avLst/>
          </a:prstGeom>
          <a:solidFill>
            <a:srgbClr val="1B4A73"/>
          </a:solidFill>
          <a:ln/>
        </p:spPr>
      </p:sp>
      <p:sp>
        <p:nvSpPr>
          <p:cNvPr id="5" name="Shape 3"/>
          <p:cNvSpPr/>
          <p:nvPr/>
        </p:nvSpPr>
        <p:spPr>
          <a:xfrm>
            <a:off x="978408" y="2377440"/>
            <a:ext cx="566928" cy="566928"/>
          </a:xfrm>
          <a:prstGeom prst="ellipse">
            <a:avLst/>
          </a:prstGeom>
          <a:solidFill>
            <a:srgbClr val="0F254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" y="2505456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176272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E0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Namespace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691640" y="2542032"/>
            <a:ext cx="4251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name→object mapping; modules, classes &amp; calls each get their own.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309360" y="2011680"/>
            <a:ext cx="5303520" cy="1298448"/>
          </a:xfrm>
          <a:prstGeom prst="rect">
            <a:avLst/>
          </a:prstGeom>
          <a:solidFill>
            <a:srgbClr val="1B4A73"/>
          </a:solidFill>
          <a:ln/>
        </p:spPr>
      </p:sp>
      <p:sp>
        <p:nvSpPr>
          <p:cNvPr id="10" name="Shape 7"/>
          <p:cNvSpPr/>
          <p:nvPr/>
        </p:nvSpPr>
        <p:spPr>
          <a:xfrm>
            <a:off x="6510528" y="2377440"/>
            <a:ext cx="566928" cy="566928"/>
          </a:xfrm>
          <a:prstGeom prst="ellipse">
            <a:avLst/>
          </a:prstGeom>
          <a:solidFill>
            <a:srgbClr val="0F254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544" y="2505456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2176272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E0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LEGB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7223760" y="2542032"/>
            <a:ext cx="4251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resolves names Local → Enclosing → Global → Built-in.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77240" y="3493008"/>
            <a:ext cx="5303520" cy="1298448"/>
          </a:xfrm>
          <a:prstGeom prst="rect">
            <a:avLst/>
          </a:prstGeom>
          <a:solidFill>
            <a:srgbClr val="1B4A73"/>
          </a:solidFill>
          <a:ln/>
        </p:spPr>
      </p:sp>
      <p:sp>
        <p:nvSpPr>
          <p:cNvPr id="15" name="Shape 11"/>
          <p:cNvSpPr/>
          <p:nvPr/>
        </p:nvSpPr>
        <p:spPr>
          <a:xfrm>
            <a:off x="978408" y="3858768"/>
            <a:ext cx="566928" cy="566928"/>
          </a:xfrm>
          <a:prstGeom prst="ellipse">
            <a:avLst/>
          </a:prstGeom>
          <a:solidFill>
            <a:srgbClr val="0F254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" y="3986784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3657600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E0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global / nonlocal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1691640" y="4023360"/>
            <a:ext cx="4251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needed only to REBIND an outer name; use sparingly.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309360" y="3493008"/>
            <a:ext cx="5303520" cy="1298448"/>
          </a:xfrm>
          <a:prstGeom prst="rect">
            <a:avLst/>
          </a:prstGeom>
          <a:solidFill>
            <a:srgbClr val="1B4A73"/>
          </a:solidFill>
          <a:ln/>
        </p:spPr>
      </p:sp>
      <p:sp>
        <p:nvSpPr>
          <p:cNvPr id="20" name="Shape 15"/>
          <p:cNvSpPr/>
          <p:nvPr/>
        </p:nvSpPr>
        <p:spPr>
          <a:xfrm>
            <a:off x="6510528" y="3858768"/>
            <a:ext cx="566928" cy="566928"/>
          </a:xfrm>
          <a:prstGeom prst="ellipse">
            <a:avLst/>
          </a:prstGeom>
          <a:solidFill>
            <a:srgbClr val="0F254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8544" y="3986784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23760" y="3657600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E0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Closures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7223760" y="4023360"/>
            <a:ext cx="4251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functions remember enclosing variables — powering decorators.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777240" y="5111496"/>
            <a:ext cx="10652760" cy="658368"/>
          </a:xfrm>
          <a:prstGeom prst="rect">
            <a:avLst/>
          </a:prstGeom>
          <a:solidFill>
            <a:srgbClr val="F4B400"/>
          </a:solidFill>
          <a:ln/>
        </p:spPr>
      </p:sp>
      <p:sp>
        <p:nvSpPr>
          <p:cNvPr id="25" name="Text 19"/>
          <p:cNvSpPr/>
          <p:nvPr/>
        </p:nvSpPr>
        <p:spPr>
          <a:xfrm>
            <a:off x="777240" y="5111496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which name Python sees — and most “mysterious” bugs disappear.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Variable Scope &amp; Namespaces in Python</dc:title>
  <dc:subject>PptxGenJS Presentation</dc:subject>
  <dc:creator>Python Course</dc:creator>
  <cp:lastModifiedBy>Python Course</cp:lastModifiedBy>
  <cp:revision>1</cp:revision>
  <dcterms:created xsi:type="dcterms:W3CDTF">2026-06-07T08:29:13Z</dcterms:created>
  <dcterms:modified xsi:type="dcterms:W3CDTF">2026-06-07T08:29:13Z</dcterms:modified>
</cp:coreProperties>
</file>